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B3F9E"/>
                </a:solidFill>
                <a:latin typeface="Aptos"/>
              </a:defRPr>
            </a:pPr>
            <a:r>
              <a:t>SBA LOAN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62630"/>
                </a:solidFill>
                <a:latin typeface="Aptos"/>
              </a:defRPr>
            </a:pPr>
            <a:r>
              <a:t>End-to-end analytics using Python, MySQL &amp;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503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5F6E"/>
                </a:solidFill>
                <a:latin typeface="Aptos"/>
              </a:defRPr>
            </a:pPr>
            <a:r>
              <a:rPr dirty="0"/>
              <a:t>Capstone Project Presentation</a:t>
            </a:r>
            <a:br>
              <a:rPr dirty="0"/>
            </a:br>
            <a:r>
              <a:rPr dirty="0"/>
              <a:t>Student: _</a:t>
            </a:r>
            <a:r>
              <a:rPr lang="en-IN" dirty="0"/>
              <a:t>MALLIKA T</a:t>
            </a:r>
            <a:r>
              <a:rPr dirty="0"/>
              <a:t>_   |   Date: _</a:t>
            </a:r>
            <a:r>
              <a:rPr lang="en-IN" dirty="0"/>
              <a:t>28-10-2026</a:t>
            </a:r>
            <a:r>
              <a:rPr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2630"/>
                </a:solidFill>
                <a:latin typeface="Aptos"/>
              </a:defRPr>
            </a:pPr>
            <a:r>
              <a:t>•  Analyze a 5,000-record SBA loan dataset with 18 fields.</a:t>
            </a:r>
          </a:p>
          <a:p>
            <a:pPr>
              <a:spcAft>
                <a:spcPts val="1200"/>
              </a:spcAft>
              <a:defRPr sz="2100">
                <a:solidFill>
                  <a:srgbClr val="262630"/>
                </a:solidFill>
                <a:latin typeface="Aptos"/>
              </a:defRPr>
            </a:pPr>
            <a:r>
              <a:t>•  Clean and validate the records in Python.</a:t>
            </a:r>
          </a:p>
          <a:p>
            <a:pPr>
              <a:spcAft>
                <a:spcPts val="1200"/>
              </a:spcAft>
              <a:defRPr sz="2100">
                <a:solidFill>
                  <a:srgbClr val="262630"/>
                </a:solidFill>
                <a:latin typeface="Aptos"/>
              </a:defRPr>
            </a:pPr>
            <a:r>
              <a:t>•  Store the prepared data and answer business questions in MySQL.</a:t>
            </a:r>
          </a:p>
          <a:p>
            <a:pPr>
              <a:spcAft>
                <a:spcPts val="1200"/>
              </a:spcAft>
              <a:defRPr sz="2100">
                <a:solidFill>
                  <a:srgbClr val="262630"/>
                </a:solidFill>
                <a:latin typeface="Aptos"/>
              </a:defRPr>
            </a:pPr>
            <a:r>
              <a:t>•  Present key metrics through a three-page interactive Power BI dashboard.</a:t>
            </a:r>
          </a:p>
          <a:p>
            <a:pPr>
              <a:spcAft>
                <a:spcPts val="1200"/>
              </a:spcAft>
              <a:defRPr sz="2100">
                <a:solidFill>
                  <a:srgbClr val="262630"/>
                </a:solidFill>
                <a:latin typeface="Aptos"/>
              </a:defRPr>
            </a:pPr>
            <a:r>
              <a:t>•  Focus areas: approval amounts, loan status, charge-offs, geography, business age, and jobs supported.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Objectives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30"/>
                </a:solidFill>
                <a:latin typeface="Aptos"/>
              </a:defRPr>
            </a:pPr>
            <a:r>
              <a:t>•  Inspect missing values, data types, duplicates, and numeric validity.</a:t>
            </a:r>
          </a:p>
          <a:p>
            <a:pPr>
              <a:spcAft>
                <a:spcPts val="1200"/>
              </a:spcAft>
              <a:defRPr sz="2000">
                <a:solidFill>
                  <a:srgbClr val="262630"/>
                </a:solidFill>
                <a:latin typeface="Aptos"/>
              </a:defRPr>
            </a:pPr>
            <a:r>
              <a:t>•  Prepare a consistent cleaned CSV for downstream analysis.</a:t>
            </a:r>
          </a:p>
          <a:p>
            <a:pPr>
              <a:spcAft>
                <a:spcPts val="1200"/>
              </a:spcAft>
              <a:defRPr sz="2000">
                <a:solidFill>
                  <a:srgbClr val="262630"/>
                </a:solidFill>
                <a:latin typeface="Aptos"/>
              </a:defRPr>
            </a:pPr>
            <a:r>
              <a:t>•  Build SQL summaries, reusable views, JOIN logic, and state ranking.</a:t>
            </a:r>
          </a:p>
          <a:p>
            <a:pPr>
              <a:spcAft>
                <a:spcPts val="1200"/>
              </a:spcAft>
              <a:defRPr sz="2000">
                <a:solidFill>
                  <a:srgbClr val="262630"/>
                </a:solidFill>
                <a:latin typeface="Aptos"/>
              </a:defRPr>
            </a:pPr>
            <a:r>
              <a:t>•  Create dashboard pages for executive summary, risk/status, and economic impact.</a:t>
            </a:r>
          </a:p>
          <a:p>
            <a:pPr>
              <a:spcAft>
                <a:spcPts val="1200"/>
              </a:spcAft>
              <a:defRPr sz="2000">
                <a:solidFill>
                  <a:srgbClr val="262630"/>
                </a:solidFill>
                <a:latin typeface="Aptos"/>
              </a:defRPr>
            </a:pPr>
            <a:r>
              <a:t>•  Workflow: CSV → Python cleaning → MySQL analysis → Power BI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Dataset &amp; Data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468880" cy="114300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Records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5,000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17320"/>
            <a:ext cx="2468880" cy="114300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Columns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17320"/>
            <a:ext cx="2468880" cy="114300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Duplicate rows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17320"/>
            <a:ext cx="2468880" cy="114300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CHGOFF records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630"/>
                </a:solidFill>
                <a:latin typeface="Aptos"/>
              </a:defRPr>
            </a:pPr>
            <a:r>
              <a:t>•  Missing BusinessType: 1; BusinessAge: 2.</a:t>
            </a:r>
          </a:p>
          <a:p>
            <a:pPr>
              <a:spcAft>
                <a:spcPts val="1200"/>
              </a:spcAft>
              <a:defRPr sz="1700">
                <a:solidFill>
                  <a:srgbClr val="262630"/>
                </a:solidFill>
                <a:latin typeface="Aptos"/>
              </a:defRPr>
            </a:pPr>
            <a:r>
              <a:t>•  PaidInFullDate missing: 4,122; ChargeOffDate missing: 4,911.</a:t>
            </a:r>
          </a:p>
          <a:p>
            <a:pPr>
              <a:spcAft>
                <a:spcPts val="1200"/>
              </a:spcAft>
              <a:defRPr sz="1700">
                <a:solidFill>
                  <a:srgbClr val="262630"/>
                </a:solidFill>
                <a:latin typeface="Aptos"/>
              </a:defRPr>
            </a:pPr>
            <a:r>
              <a:t>•  Outcome dates are not assumed to be missing errors; many records may not have those outcomes.</a:t>
            </a:r>
          </a:p>
          <a:p>
            <a:pPr>
              <a:spcAft>
                <a:spcPts val="1200"/>
              </a:spcAft>
              <a:defRPr sz="1700">
                <a:solidFill>
                  <a:srgbClr val="262630"/>
                </a:solidFill>
                <a:latin typeface="Aptos"/>
              </a:defRPr>
            </a:pPr>
            <a:r>
              <a:t>•  Numeric checks found no non-positive approvals, negative charge-off amounts, or negative jobs in the cleaned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Python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Parsed ApprovalDate, PaidInFullDate, and ChargeOffDate using day-month-year format.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Filled missing business classifications with “Unknown” rather than inventing values.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Checked duplicate rows and numeric fields.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Exported data/processed/sba_loan_cleaned.csv.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Reload validation: 5,000 rows × 18 columns.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Note: CSV reload may turn dates back into text; downstream systems should explicitly set date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MySQL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Database: sba_loan_analysis; main table: sba_loan_data.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Eight reusable views summarize status, year, processing method, state, business age, term, jobs, and interest rate.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Queries use aggregation, GROUP BY, CASE, NULLIF, and subqueries.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state_loan_summary supports an INNER JOIN example and RANK() window function.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State approval ranking: California #1, Texas #2, Florida #3.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Key Findings: Volume &amp; Approval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128016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Average approval / record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$513,861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128016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Median approval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$198,000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128016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Average loan term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138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2025 had the largest listed volume: 1,071 loans.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2025 total approval was $515.8 million in the yearly summary.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2026 may be a partial year, so the lower total should not be treated as a full-year decline.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Confirm total approval KPI in Power BI against SQL summaries before final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Loan Status &amp; Charge-Offs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3291840" cy="123444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EXEMPT status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3,119 (62.38%)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17320"/>
            <a:ext cx="3291840" cy="123444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P I F status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878 (17.56%)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291840" cy="1234440"/>
          </a:xfrm>
          <a:prstGeom prst="roundRect">
            <a:avLst/>
          </a:prstGeom>
          <a:solidFill>
            <a:srgbClr val="F6F4FB"/>
          </a:solidFill>
          <a:ln>
            <a:solidFill>
              <a:srgbClr val="DC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defRPr sz="1200">
                <a:solidFill>
                  <a:srgbClr val="5F5F6E"/>
                </a:solidFill>
              </a:defRPr>
            </a:pPr>
            <a:r>
              <a:t>Recorded charge-offs</a:t>
            </a:r>
          </a:p>
          <a:p>
            <a:pPr algn="ctr">
              <a:defRPr sz="2100" b="1">
                <a:solidFill>
                  <a:srgbClr val="5B3F9E"/>
                </a:solidFill>
              </a:defRPr>
            </a:pPr>
            <a:r>
              <a:t>$10.87M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CHGOFF status: 89 records, or 1.78% of all records.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This 1.78% is a record share—not a dollar charge-off rate.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EXEMPT needs a verified data-dictionary definition before interpreting it as an outcome.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Observed differences between programs are descriptive and do not prove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Page 1 — Executive Summary: Year, State, Status, and Business Type slicers; KPI cards; yearly approval and charge-off trends.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Page 2 — Loan Risk &amp; Status Analysis: status counts, charge-offs by status, and average interest rate by business type.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Page 3 — Business &amp; Economic Impact: jobs supported, total approval, and average loan term.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Visual design: white background with violet charts for consistent styling.</a:t>
            </a:r>
          </a:p>
          <a:p>
            <a:pPr>
              <a:spcAft>
                <a:spcPts val="1200"/>
              </a:spcAft>
              <a:defRPr sz="1800">
                <a:solidFill>
                  <a:srgbClr val="262630"/>
                </a:solidFill>
                <a:latin typeface="Aptos"/>
              </a:defRPr>
            </a:pPr>
            <a:r>
              <a:t>•  Test slicer interactions and reconcile dashboard measures with SQL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3F9E"/>
                </a:solidFill>
                <a:latin typeface="Aptos"/>
              </a:defRPr>
            </a:pPr>
            <a:r>
              <a:t>Recommendations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Verify status-code definitions and full-year coverage before drawing conclusions.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Show counts with rates; treat small groups as exploratory only.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Convert MySQL date fields from TEXT to DATE/DATETIME for reliable date analysis.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Reconcile Power BI KPI totals against SQL under matching filters.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The project demonstrates an end-to-end pipeline from data preparation to business intelligence.</a:t>
            </a:r>
          </a:p>
          <a:p>
            <a:pPr>
              <a:spcAft>
                <a:spcPts val="1200"/>
              </a:spcAft>
              <a:defRPr sz="1900">
                <a:solidFill>
                  <a:srgbClr val="262630"/>
                </a:solidFill>
                <a:latin typeface="Aptos"/>
              </a:defRPr>
            </a:pPr>
            <a:r>
              <a:t>•  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E"/>
                </a:solidFill>
                <a:latin typeface="Aptos"/>
              </a:defRPr>
            </a:pPr>
            <a:r>
              <a:t>SBA Loan Analysis  •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802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mallika t</cp:lastModifiedBy>
  <cp:revision>2</cp:revision>
  <dcterms:created xsi:type="dcterms:W3CDTF">2013-01-27T09:14:16Z</dcterms:created>
  <dcterms:modified xsi:type="dcterms:W3CDTF">2026-10-28T08:23:19Z</dcterms:modified>
  <cp:category/>
</cp:coreProperties>
</file>